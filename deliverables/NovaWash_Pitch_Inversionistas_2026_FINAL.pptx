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1dbcc55207e4238" /><Relationship Type="http://schemas.openxmlformats.org/officeDocument/2006/relationships/extended-properties" Target="/docProps/app.xml" Id="R54b530555aab4160" /><Relationship Type="http://schemas.openxmlformats.org/officeDocument/2006/relationships/officeDocument" Target="/ppt/presentation.xml" Id="R5b4df4b17ef7440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367d722ccc44307"/>
  </p:sldMasterIdLst>
  <p:notesMasterIdLst>
    <p:notesMasterId xmlns:r="http://schemas.openxmlformats.org/officeDocument/2006/relationships" r:id="R875a17728a42497c"/>
  </p:notesMasterIdLst>
  <p:sldIdLst>
    <p:sldId xmlns:r="http://schemas.openxmlformats.org/officeDocument/2006/relationships" id="256" r:id="Rd8f4aa55930c4d9a"/>
    <p:sldId xmlns:r="http://schemas.openxmlformats.org/officeDocument/2006/relationships" id="257" r:id="Rd592ffda2c574b86"/>
    <p:sldId xmlns:r="http://schemas.openxmlformats.org/officeDocument/2006/relationships" id="258" r:id="R7b79e76bc74d45bd"/>
    <p:sldId xmlns:r="http://schemas.openxmlformats.org/officeDocument/2006/relationships" id="259" r:id="Rd42d7f47eb014519"/>
    <p:sldId xmlns:r="http://schemas.openxmlformats.org/officeDocument/2006/relationships" id="260" r:id="R1a8c275cfcfa46fd"/>
    <p:sldId xmlns:r="http://schemas.openxmlformats.org/officeDocument/2006/relationships" id="261" r:id="R275fd04ece884a6f"/>
    <p:sldId xmlns:r="http://schemas.openxmlformats.org/officeDocument/2006/relationships" id="262" r:id="R9cfcc34ef5c646dc"/>
    <p:sldId xmlns:r="http://schemas.openxmlformats.org/officeDocument/2006/relationships" id="263" r:id="Rc77c98ec96884cf4"/>
    <p:sldId xmlns:r="http://schemas.openxmlformats.org/officeDocument/2006/relationships" id="264" r:id="Rbd7299a4d6154271"/>
    <p:sldId xmlns:r="http://schemas.openxmlformats.org/officeDocument/2006/relationships" id="265" r:id="R09f675a71dfe4b6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ea6dd83d48740ed" /><Relationship Type="http://schemas.openxmlformats.org/officeDocument/2006/relationships/slideMaster" Target="/ppt/slideMasters/slideMaster1.xml" Id="R1367d722ccc44307" /><Relationship Type="http://schemas.openxmlformats.org/officeDocument/2006/relationships/notesMaster" Target="/ppt/notesMasters/notesMaster1.xml" Id="R875a17728a42497c" /><Relationship Type="http://schemas.openxmlformats.org/officeDocument/2006/relationships/presProps" Target="/ppt/presProps.xml" Id="R061c65a4b27841c8" /><Relationship Type="http://schemas.openxmlformats.org/officeDocument/2006/relationships/tableStyles" Target="/ppt/tableStyles.xml" Id="Rd0426ec97d33478c" /><Relationship Type="http://schemas.openxmlformats.org/officeDocument/2006/relationships/slide" Target="/ppt/slides/slide1.xml" Id="Rd8f4aa55930c4d9a" /><Relationship Type="http://schemas.openxmlformats.org/officeDocument/2006/relationships/slide" Target="/ppt/slides/slide2.xml" Id="Rd592ffda2c574b86" /><Relationship Type="http://schemas.openxmlformats.org/officeDocument/2006/relationships/slide" Target="/ppt/slides/slide3.xml" Id="R7b79e76bc74d45bd" /><Relationship Type="http://schemas.openxmlformats.org/officeDocument/2006/relationships/slide" Target="/ppt/slides/slide4.xml" Id="Rd42d7f47eb014519" /><Relationship Type="http://schemas.openxmlformats.org/officeDocument/2006/relationships/slide" Target="/ppt/slides/slide5.xml" Id="R1a8c275cfcfa46fd" /><Relationship Type="http://schemas.openxmlformats.org/officeDocument/2006/relationships/slide" Target="/ppt/slides/slide6.xml" Id="R275fd04ece884a6f" /><Relationship Type="http://schemas.openxmlformats.org/officeDocument/2006/relationships/slide" Target="/ppt/slides/slide7.xml" Id="R9cfcc34ef5c646dc" /><Relationship Type="http://schemas.openxmlformats.org/officeDocument/2006/relationships/slide" Target="/ppt/slides/slide8.xml" Id="Rc77c98ec96884cf4" /><Relationship Type="http://schemas.openxmlformats.org/officeDocument/2006/relationships/slide" Target="/ppt/slides/slide9.xml" Id="Rbd7299a4d6154271" /><Relationship Type="http://schemas.openxmlformats.org/officeDocument/2006/relationships/slide" Target="/ppt/slides/slide10.xml" Id="R09f675a71dfe4b6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093c053e6e0485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a59363b1f5340d9" /><Relationship Type="http://schemas.openxmlformats.org/officeDocument/2006/relationships/notesMaster" Target="/ppt/notesMasters/notesMaster1.xml" Id="R0fe7ad8bbd0c4fc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1fd21984fe642f1" /><Relationship Type="http://schemas.openxmlformats.org/officeDocument/2006/relationships/notesMaster" Target="/ppt/notesMasters/notesMaster1.xml" Id="R1d2f754910ec409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c33b34bf1134925" /><Relationship Type="http://schemas.openxmlformats.org/officeDocument/2006/relationships/notesMaster" Target="/ppt/notesMasters/notesMaster1.xml" Id="Ra592b98831e5478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e9f9981a24540a8" /><Relationship Type="http://schemas.openxmlformats.org/officeDocument/2006/relationships/notesMaster" Target="/ppt/notesMasters/notesMaster1.xml" Id="R533bb07cc6694cc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6b70ea5559c4e2c" /><Relationship Type="http://schemas.openxmlformats.org/officeDocument/2006/relationships/notesMaster" Target="/ppt/notesMasters/notesMaster1.xml" Id="R2da6e646ed43483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121acee407a41bc" /><Relationship Type="http://schemas.openxmlformats.org/officeDocument/2006/relationships/notesMaster" Target="/ppt/notesMasters/notesMaster1.xml" Id="R1de18ca648864ab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54fe4876e054578" /><Relationship Type="http://schemas.openxmlformats.org/officeDocument/2006/relationships/notesMaster" Target="/ppt/notesMasters/notesMaster1.xml" Id="Rc72ef42b9a1a46b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7f8e0146f024cfa" /><Relationship Type="http://schemas.openxmlformats.org/officeDocument/2006/relationships/notesMaster" Target="/ppt/notesMasters/notesMaster1.xml" Id="R6e2a5c76de2748d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76f0c65aa9d4e5c" /><Relationship Type="http://schemas.openxmlformats.org/officeDocument/2006/relationships/notesMaster" Target="/ppt/notesMasters/notesMaster1.xml" Id="R0b3452a5bdd94b0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a78dcdde8374eb4" /><Relationship Type="http://schemas.openxmlformats.org/officeDocument/2006/relationships/notesMaster" Target="/ppt/notesMasters/notesMaster1.xml" Id="Rd679082e552d4e2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Visual: Imagenes/portada-novawash-2026.jpg. Identidad: Imagenes/novawash-horizontal.png. Cifras y advertencias: docs/Novawash_Modelos_de_Negocio_Dossier_Comercial_Editable.docx.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docs/Novawash_Modelos_de_Negocio_Dossier_Comercial_Editable.docx, secciones 01 y 02. Visual: Imagenes/render.png.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docs/Novawash_Modelos_de_Negocio_Dossier_Comercial_Editable.docx, sección 02. Visual: Imagenes/Limpieza_interior.jpg.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docs/Novawash_Modelos_de_Negocio_Dossier_Comercial_Editable.docx, sección 03.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docs/Novawash_Modelos_de_Negocio_Dossier_Comercial_Editable.docx, sección 03B. Visual: Imagenes/partners-lavadero-3d.webp.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docs/Novawash_Modelos_de_Negocio_Dossier_Comercial_Editable.docx, sección 14. Escenarios ilustrativos en COP millones por 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docs/Novawash_Modelos_de_Negocio_Dossier_Comercial_Editable.docx, sección 04C. Visual: Imagenes/partners-red-3d.webp.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docs/Novawash_Modelos_de_Negocio_Dossier_Comercial_Editable.docx, secciones 02, 11 y 14. Visual: Imagenes/cafenova.jpg.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docs/Novawash_Modelos_de_Negocio_Dossier_Comercial_Editable.docx, secciones 01, 15 y 16; docs/PARTNERS_MODELO.md.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Visual: Imagenes/portada-novawash-2026.jpg. Mensaje basado en docs/Novawash_Modelos_de_Negocio_Dossier_Comercial_Editable.docx, secciones 11, 16 y 17.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2659233833487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62831f5cadf4af3" /><Relationship Type="http://schemas.openxmlformats.org/officeDocument/2006/relationships/slideLayout" Target="/ppt/slideLayouts/slideLayout1.xml" Id="R323fa5e055604f5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23fa5e055604f5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a66286b5fa4ca6" /><Relationship Type="http://schemas.openxmlformats.org/officeDocument/2006/relationships/image" Target="/ppt/media/image.png" Id="Rc659bfb912d84360" /><Relationship Type="http://schemas.openxmlformats.org/officeDocument/2006/relationships/image" Target="/ppt/media/image2.png" Id="R3668692ea5f346ce" /><Relationship Type="http://schemas.openxmlformats.org/officeDocument/2006/relationships/notesSlide" Target="/ppt/notesSlides/notesSlide1.xml" Id="R6d770e51075e4fa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178614bdc5417d" /><Relationship Type="http://schemas.openxmlformats.org/officeDocument/2006/relationships/image" Target="/ppt/media/image3.png" Id="Re172e186b70a44de" /><Relationship Type="http://schemas.openxmlformats.org/officeDocument/2006/relationships/image" Target="/ppt/media/image4.png" Id="Rd4e23d3194334661" /><Relationship Type="http://schemas.openxmlformats.org/officeDocument/2006/relationships/notesSlide" Target="/ppt/notesSlides/notesSlide2.xml" Id="Rb7efe7a21db9462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2d9a88f1074b15" /><Relationship Type="http://schemas.openxmlformats.org/officeDocument/2006/relationships/image" Target="/ppt/media/image5.png" Id="Re8e1828243114f97" /><Relationship Type="http://schemas.openxmlformats.org/officeDocument/2006/relationships/image" Target="/ppt/media/image6.png" Id="R4adae38044a742b4" /><Relationship Type="http://schemas.openxmlformats.org/officeDocument/2006/relationships/notesSlide" Target="/ppt/notesSlides/notesSlide3.xml" Id="R2cf3dff702bb465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f1fe1b10f84d59" /><Relationship Type="http://schemas.openxmlformats.org/officeDocument/2006/relationships/image" Target="/ppt/media/image7.png" Id="R7df81dc462f749d9" /><Relationship Type="http://schemas.openxmlformats.org/officeDocument/2006/relationships/notesSlide" Target="/ppt/notesSlides/notesSlide4.xml" Id="R2288335e1414421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fb93e21b544c96" /><Relationship Type="http://schemas.openxmlformats.org/officeDocument/2006/relationships/image" Target="/ppt/media/image8.png" Id="R6f819d51ac1943fe" /><Relationship Type="http://schemas.openxmlformats.org/officeDocument/2006/relationships/image" Target="/ppt/media/image9.png" Id="Rc2ba476aee9e456f" /><Relationship Type="http://schemas.openxmlformats.org/officeDocument/2006/relationships/notesSlide" Target="/ppt/notesSlides/notesSlide5.xml" Id="R4887a2e622944db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34f7f5f38149cc" /><Relationship Type="http://schemas.openxmlformats.org/officeDocument/2006/relationships/image" Target="/ppt/media/image10.png" Id="Rd1fb379f7a614e40" /><Relationship Type="http://schemas.openxmlformats.org/officeDocument/2006/relationships/chart" Target="/ppt/slides/charts/chart1.xml" Id="R651bbbed7b6b486b" /><Relationship Type="http://schemas.openxmlformats.org/officeDocument/2006/relationships/notesSlide" Target="/ppt/notesSlides/notesSlide6.xml" Id="Rbc7a6825f46a427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26956c74dc4339" /><Relationship Type="http://schemas.openxmlformats.org/officeDocument/2006/relationships/image" Target="/ppt/media/image11.png" Id="R585d72df467e4a19" /><Relationship Type="http://schemas.openxmlformats.org/officeDocument/2006/relationships/image" Target="/ppt/media/image12.png" Id="R2ed43e9e41c846fc" /><Relationship Type="http://schemas.openxmlformats.org/officeDocument/2006/relationships/notesSlide" Target="/ppt/notesSlides/notesSlide7.xml" Id="Rc484293012ca497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ebcfa3d8d54c92" /><Relationship Type="http://schemas.openxmlformats.org/officeDocument/2006/relationships/image" Target="/ppt/media/image13.png" Id="Rfb0035fe1bb24708" /><Relationship Type="http://schemas.openxmlformats.org/officeDocument/2006/relationships/image" Target="/ppt/media/image14.png" Id="Rb3ddefc7f696465b" /><Relationship Type="http://schemas.openxmlformats.org/officeDocument/2006/relationships/notesSlide" Target="/ppt/notesSlides/notesSlide8.xml" Id="R91b1bd4e9f424ac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d7e39fecc44b05" /><Relationship Type="http://schemas.openxmlformats.org/officeDocument/2006/relationships/image" Target="/ppt/media/image15.png" Id="R2faa1be012614340" /><Relationship Type="http://schemas.openxmlformats.org/officeDocument/2006/relationships/notesSlide" Target="/ppt/notesSlides/notesSlide9.xml" Id="R51942ffd40ea427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52865f6d264a04" /><Relationship Type="http://schemas.openxmlformats.org/officeDocument/2006/relationships/image" Target="/ppt/media/image16.png" Id="Rc2ca496478ef443c" /><Relationship Type="http://schemas.openxmlformats.org/officeDocument/2006/relationships/image" Target="/ppt/media/image17.png" Id="R091abc751a864aff" /><Relationship Type="http://schemas.openxmlformats.org/officeDocument/2006/relationships/notesSlide" Target="/ppt/notesSlides/notesSlide10.xml" Id="Rb8f6a360cb88436c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Ventas totales</c:v>
          </c:tx>
          <c:spPr>
            <a:solidFill xmlns:a="http://schemas.openxmlformats.org/drawingml/2006/main">
              <a:srgbClr val="FF8000"/>
            </a:solidFill>
          </c:spPr>
          <c:cat>
            <c:strRef>
              <c:f>'Chart Data'!$A$2:$A$4</c:f>
              <c:strCache>
                <c:ptCount val="3"/>
                <c:pt idx="0">
                  <c:v>Lanzamiento</c:v>
                </c:pt>
                <c:pt idx="1">
                  <c:v>Consolidación</c:v>
                </c:pt>
                <c:pt idx="2">
                  <c:v>Expansión</c:v>
                </c:pt>
              </c:strCache>
            </c:str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17.16</c:v>
                </c:pt>
                <c:pt idx="1">
                  <c:v>31.4</c:v>
                </c:pt>
                <c:pt idx="2">
                  <c:v>56.16</c:v>
                </c:pt>
              </c:numCache>
            </c:numRef>
          </c:val>
        </c:ser>
        <c:ser>
          <c:idx val="1"/>
          <c:order val="1"/>
          <c:tx>
            <c:v>EBITDA estimado</c:v>
          </c:tx>
          <c:spPr>
            <a:solidFill xmlns:a="http://schemas.openxmlformats.org/drawingml/2006/main">
              <a:srgbClr val="191D22"/>
            </a:solidFill>
          </c:spPr>
          <c:cat>
            <c:strRef>
              <c:f>'Chart Data'!$C$2:$C$4</c:f>
              <c:strCache>
                <c:ptCount val="3"/>
                <c:pt idx="0">
                  <c:v>Lanzamiento</c:v>
                </c:pt>
                <c:pt idx="1">
                  <c:v>Consolidación</c:v>
                </c:pt>
                <c:pt idx="2">
                  <c:v>Expansión</c:v>
                </c:pt>
              </c:strCache>
            </c:str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2.1</c:v>
                </c:pt>
                <c:pt idx="1">
                  <c:v>9.1</c:v>
                </c:pt>
                <c:pt idx="2">
                  <c:v>20.09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elvetica Neue"/>
                    <a:ea typeface="Helvetica Neue"/>
                    <a:cs typeface="Helvetica Neue"/>
                  </a:rPr>
                  <a:t>COP millones por mes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Helvetica Neue"/>
              <a:ea typeface="Helvetica Neue"/>
              <a:cs typeface="Helvetica Neue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91D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59bfb912d84360"/>
          <a:srcRect xmlns:a="http://schemas.openxmlformats.org/drawingml/2006/main" l="0" t="7813" r="0" b="78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B1E7EB-C9FE-48CC-8969-8707B75B9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61B">
              <a:alpha val="74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AAA0A7-2E6E-4B30-9834-3B6F0FDEB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2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0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BEC167-53A8-491A-A942-9E21DE73D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2428875" cy="381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68692ea5f346ce"/>
          <a:stretch xmlns:a="http://schemas.openxmlformats.org/drawingml/2006/main"/>
        </p:blipFill>
        <p:spPr>
          <a:xfrm xmlns:a="http://schemas.openxmlformats.org/drawingml/2006/main">
            <a:off x="868362" y="619125"/>
            <a:ext cx="2063750" cy="2476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62712C-4461-4DDB-8018-FC6493043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28800"/>
            <a:ext cx="3619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167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9C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9C43"/>
                </a:solidFill>
                <a:latin typeface="Helvetica Neue"/>
                <a:ea typeface="Helvetica Neue"/>
                <a:cs typeface="Helvetica Neue"/>
              </a:rPr>
              <a:t>OPORTUNIDAD DE INVERSIÓN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9FDED5-430A-4008-BA0F-ECF76C0AF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685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833"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NovaWash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A14858-BFCC-4FE3-A273-18E8B11B4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86075"/>
            <a:ext cx="638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276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Modelos de negocio para una red de lavado vehicular habilitada por tecnología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2370C5-F45B-4E95-85E4-084ABE1BD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905250"/>
            <a:ext cx="595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EE2E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DEE2E6"/>
                </a:solidFill>
                <a:latin typeface="Helvetica Neue"/>
                <a:ea typeface="Helvetica Neue"/>
                <a:cs typeface="Helvetica Neue"/>
              </a:rPr>
              <a:t>Infraestructura, automatización, software, marca y servicios recurrentes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363197-A98C-4ADC-8F5D-97B731D1D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353050"/>
            <a:ext cx="352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F511EF-B97E-4B9B-952C-66097AF1A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24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Presentación preliminar  |  Septiembre de 2026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993E19-CABA-4041-8AB9-445B44A8A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05500"/>
            <a:ext cx="5667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D4D9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>
                <a:solidFill>
                  <a:srgbClr val="D4D9DE"/>
                </a:solidFill>
                <a:latin typeface="Helvetica Neue"/>
                <a:ea typeface="Helvetica Neue"/>
                <a:cs typeface="Helvetica Neue"/>
              </a:rPr>
              <a:t>Cifras ilustrativas. No constituyen oferta de valores ni promesa de rentabilidad.</a:t>
            </a:r>
          </a:p>
        </p:txBody>
      </p:sp>
    </p:spTree>
    <p:extLst>
      <p:ext uri="{BB962C8B-B14F-4D97-AF65-F5344CB8AC3E}">
        <p14:creationId xmlns:p14="http://schemas.microsoft.com/office/powerpoint/2010/main" val="12180184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72e186b70a44de"/>
          <a:stretch xmlns:a="http://schemas.openxmlformats.org/drawingml/2006/main"/>
        </p:blipFill>
        <p:spPr>
          <a:xfrm xmlns:a="http://schemas.openxmlformats.org/drawingml/2006/main">
            <a:off x="685800" y="259080"/>
            <a:ext cx="2190750" cy="26289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463727-0A4D-40E1-BC9C-6ECBEFB49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781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2814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91D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91D22"/>
                </a:solidFill>
                <a:latin typeface="Helvetica Neue"/>
                <a:ea typeface="Helvetica Neue"/>
                <a:cs typeface="Helvetica Neue"/>
              </a:rPr>
              <a:t>Una plataforma de operación para el lavado vehicular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A8711B-1D88-4B76-A2F5-BD52EB65B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76325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870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68707A"/>
                </a:solidFill>
                <a:latin typeface="Helvetica Neue"/>
                <a:ea typeface="Helvetica Neue"/>
                <a:cs typeface="Helvetica Neue"/>
              </a:rPr>
              <a:t>NovaWash conecta el punto físico con una experiencia digital y procesos de control.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e23d3194334661"/>
          <a:srcRect xmlns:a="http://schemas.openxmlformats.org/drawingml/2006/main" l="12066" t="0" r="1206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15125" y="1504950"/>
            <a:ext cx="4791075" cy="4210050"/>
          </a:xfrm>
          <a:prstGeom xmlns:a="http://schemas.openxmlformats.org/drawingml/2006/main" prst="roundRect">
            <a:avLst>
              <a:gd name="adj" fmla="val 2715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4B70D8-FE55-459A-B111-AC3483245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3619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167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8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8000"/>
                </a:solidFill>
                <a:latin typeface="Helvetica Neue"/>
                <a:ea typeface="Helvetica Neue"/>
                <a:cs typeface="Helvetica Neue"/>
              </a:rPr>
              <a:t>BASE ACTUAL DEL PROYECTO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538FF9-54C8-49B2-B65B-AE2CCE2D0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91D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91D22"/>
                </a:solidFill>
                <a:latin typeface="Helvetica Neue"/>
                <a:ea typeface="Helvetica Neue"/>
                <a:cs typeface="Helvetica Neue"/>
              </a:rPr>
              <a:t>El activo no es solo la máquina.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4E30AB-9A44-4CFC-9898-DE08EB0F4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5162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870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68707A"/>
                </a:solidFill>
                <a:latin typeface="Helvetica Neue"/>
                <a:ea typeface="Helvetica Neue"/>
                <a:cs typeface="Helvetica Neue"/>
              </a:rPr>
              <a:t>La propuesta combina infraestructura de lavado a presión, automatización de acceso, operación digital y una marca pensada para replicarse.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389CC7-CB45-4A04-AFA4-86BE5C8DD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90975"/>
            <a:ext cx="104775" cy="4000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800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0FE2F8-12F3-4E5C-962E-F983E98CB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719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91D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91D22"/>
                </a:solidFill>
                <a:latin typeface="Helvetica Neue"/>
                <a:ea typeface="Helvetica Neue"/>
                <a:cs typeface="Helvetica Neue"/>
              </a:rPr>
              <a:t>Cliente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5DCD29-564C-42FA-AFE9-A548DAB19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814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870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68707A"/>
                </a:solidFill>
                <a:latin typeface="Helvetica Neue"/>
                <a:ea typeface="Helvetica Neue"/>
                <a:cs typeface="Helvetica Neue"/>
              </a:rPr>
              <a:t>QR, saldo, historial, planes y pagos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F9EF78-BDF0-42BC-A899-D080DA229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38675"/>
            <a:ext cx="104775" cy="4000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800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84787F-7CEC-458A-A534-E7F6AE96F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196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91D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91D22"/>
                </a:solidFill>
                <a:latin typeface="Helvetica Neue"/>
                <a:ea typeface="Helvetica Neue"/>
                <a:cs typeface="Helvetica Neue"/>
              </a:rPr>
              <a:t>Operación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7D42B6-613A-4B21-958F-142142195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291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870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68707A"/>
                </a:solidFill>
                <a:latin typeface="Helvetica Neue"/>
                <a:ea typeface="Helvetica Neue"/>
                <a:cs typeface="Helvetica Neue"/>
              </a:rPr>
              <a:t>Lector QR, control de lavadas y recaudo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C46B0B-E465-4E21-BEA8-E04C68E31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104775" cy="4000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800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5EC966-ADE8-4899-AAF2-46ED82D60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673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91D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91D22"/>
                </a:solidFill>
                <a:latin typeface="Helvetica Neue"/>
                <a:ea typeface="Helvetica Neue"/>
                <a:cs typeface="Helvetica Neue"/>
              </a:rPr>
              <a:t>Administración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6C2D15-C87D-408B-8BC4-3E822E04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768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870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68707A"/>
                </a:solidFill>
                <a:latin typeface="Helvetica Neue"/>
                <a:ea typeface="Helvetica Neue"/>
                <a:cs typeface="Helvetica Neue"/>
              </a:rPr>
              <a:t>Backoffice, métricas, filtros y auditoría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1CA921-E2AD-49AC-9993-3A3300B23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870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>
                <a:solidFill>
                  <a:srgbClr val="68707A"/>
                </a:solidFill>
                <a:latin typeface="Helvetica Neue"/>
                <a:ea typeface="Helvetica Neue"/>
                <a:cs typeface="Helvetica Neue"/>
              </a:rPr>
              <a:t>La integración industrial de apertura automática requiere validación de ingeniería antes de escalar.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F2C7F5-7DDF-4004-8F84-26D49A945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7D2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F130D6-B41D-4A59-9A04-A3707793C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3905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870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8707A"/>
                </a:solidFill>
                <a:latin typeface="Helvetica Neue"/>
                <a:ea typeface="Helvetica Neue"/>
                <a:cs typeface="Helvetica Neue"/>
              </a:rPr>
              <a:t>NOVAWASH  |  PRESENTACIÓN PARA INVERSIONISTAS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C819C7-29F8-49D9-AB41-E41EB87EA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53200"/>
            <a:ext cx="409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91D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191D2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611726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91D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65610E-C9A3-45D5-B5FC-10275D465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9550"/>
            <a:ext cx="2333625" cy="3619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e1828243114f97"/>
          <a:stretch xmlns:a="http://schemas.openxmlformats.org/drawingml/2006/main"/>
        </p:blipFill>
        <p:spPr>
          <a:xfrm xmlns:a="http://schemas.openxmlformats.org/drawingml/2006/main">
            <a:off x="685800" y="259080"/>
            <a:ext cx="2190750" cy="26289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F586B0-FF01-43BC-9BF2-2FB3FE236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781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Cuatro fuentes de ingreso por sede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556C3A-FAC4-4589-B790-DF15F094B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76325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9DEE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D9DEE4"/>
                </a:solidFill>
                <a:latin typeface="Helvetica Neue"/>
                <a:ea typeface="Helvetica Neue"/>
                <a:cs typeface="Helvetica Neue"/>
              </a:rPr>
              <a:t>La apertura concentra valor de proyecto; la red crea ingresos recurrentes durante la operación.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dae38044a742b4"/>
          <a:srcRect xmlns:a="http://schemas.openxmlformats.org/drawingml/2006/main" l="19393" t="0" r="1939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62875" y="1600200"/>
            <a:ext cx="3743325" cy="4076700"/>
          </a:xfrm>
          <a:prstGeom xmlns:a="http://schemas.openxmlformats.org/drawingml/2006/main" prst="roundRect">
            <a:avLst>
              <a:gd name="adj" fmla="val 3053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390523-9741-4B4D-AE4C-7C0B7F77E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6383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8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8000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AE0920-01EB-4CF7-B5BC-EEAB75EBA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619250"/>
            <a:ext cx="5429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909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Proyecto e instalación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7097E6-6D8B-4B7B-A6BC-BD9199817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952625"/>
            <a:ext cx="5524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C8CE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C8CED5"/>
                </a:solidFill>
                <a:latin typeface="Helvetica Neue"/>
                <a:ea typeface="Helvetica Neue"/>
                <a:cs typeface="Helvetica Neue"/>
              </a:rPr>
              <a:t>Diagnóstico, ingeniería, equipos, montaje y puesta en marcha.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DBD439-7668-4296-B71D-A74362202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86025"/>
            <a:ext cx="552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515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903082-3113-4518-83C1-0B770E9C3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670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8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8000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FA5BA4-5081-4F66-AE16-B1B4B56DA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647950"/>
            <a:ext cx="5429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909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NovaWash 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E79236-F4C5-421B-BB51-0A220DBC6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81325"/>
            <a:ext cx="5524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C8CE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C8CED5"/>
                </a:solidFill>
                <a:latin typeface="Helvetica Neue"/>
                <a:ea typeface="Helvetica Neue"/>
                <a:cs typeface="Helvetica Neue"/>
              </a:rPr>
              <a:t>Activación, mensualidad, soporte y módulos de software.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C15A45-621D-4B82-9779-578834C41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14725"/>
            <a:ext cx="552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515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702A8B-C7FB-46EC-9E34-7F8E9062D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695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8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8000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D04DAF-8085-43BC-9ACB-BAAEC7362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76650"/>
            <a:ext cx="5429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909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Marca y método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88C09C-00CD-411B-855D-589F93D8A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10025"/>
            <a:ext cx="5524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C8CE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C8CED5"/>
                </a:solidFill>
                <a:latin typeface="Helvetica Neue"/>
                <a:ea typeface="Helvetica Neue"/>
                <a:cs typeface="Helvetica Neue"/>
              </a:rPr>
              <a:t>Licencia, capacitación, estándares de experiencia y red comercial.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857DB7-0A7C-4051-8646-3ECCDA780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43425"/>
            <a:ext cx="552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5159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BF274B-C5D3-4156-B28D-0F436792B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7244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8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8000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161F69-734A-42BC-AA41-F12693298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705350"/>
            <a:ext cx="5429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909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Supply &amp; Care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255075-67C3-42DE-840B-F0B1B0527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038725"/>
            <a:ext cx="5524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C8CE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C8CED5"/>
                </a:solidFill>
                <a:latin typeface="Helvetica Neue"/>
                <a:ea typeface="Helvetica Neue"/>
                <a:cs typeface="Helvetica Neue"/>
              </a:rPr>
              <a:t>Químicos, repuestos, mantenimiento y servicios de operación.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BB841C-E421-48D4-84FE-17FEDCE06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905500"/>
            <a:ext cx="2457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Lógica de crecimiento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42A7C4-3FF7-4441-B42E-6B7A86C2A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61341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32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C7CD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>
                <a:solidFill>
                  <a:srgbClr val="C7CDD4"/>
                </a:solidFill>
                <a:latin typeface="Helvetica Neue"/>
                <a:ea typeface="Helvetica Neue"/>
                <a:cs typeface="Helvetica Neue"/>
              </a:rPr>
              <a:t>Cada nueva unidad habilita ingresos de implementación y servicio recurrente.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EAD01F-5247-4E14-B3EE-F1816CD5A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606A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882C3E-4D70-45CA-9AE6-4B5222FB2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3905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BBC3CC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BBC3CC"/>
                </a:solidFill>
                <a:latin typeface="Helvetica Neue"/>
                <a:ea typeface="Helvetica Neue"/>
                <a:cs typeface="Helvetica Neue"/>
              </a:rPr>
              <a:t>NOVAWASH  |  PRESENTACIÓN PARA INVERSIONISTAS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22F16B-AB9B-4A04-A791-B3A6FF803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53200"/>
            <a:ext cx="409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232726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f81dc462f749d9"/>
          <a:stretch xmlns:a="http://schemas.openxmlformats.org/drawingml/2006/main"/>
        </p:blipFill>
        <p:spPr>
          <a:xfrm xmlns:a="http://schemas.openxmlformats.org/drawingml/2006/main">
            <a:off x="685800" y="259080"/>
            <a:ext cx="2190750" cy="26289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22CE2F-0A12-4F2A-80F7-4B6217ED7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781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91D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91D22"/>
                </a:solidFill>
                <a:latin typeface="Helvetica Neue"/>
                <a:ea typeface="Helvetica Neue"/>
                <a:cs typeface="Helvetica Neue"/>
              </a:rPr>
              <a:t>Tres modelos para entrar a la red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F3D447-61B4-495A-8BC3-838F7A27B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76325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870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68707A"/>
                </a:solidFill>
                <a:latin typeface="Helvetica Neue"/>
                <a:ea typeface="Helvetica Neue"/>
                <a:cs typeface="Helvetica Neue"/>
              </a:rPr>
              <a:t>El capital, el local disponible y el interés de operar definen la alternativa adecuada.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C31814-7D90-4002-8ECE-97686A88D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3295650" cy="3667125"/>
          </a:xfrm>
          <a:prstGeom xmlns:a="http://schemas.openxmlformats.org/drawingml/2006/main" prst="roundRect">
            <a:avLst>
              <a:gd name="adj" fmla="val 3468"/>
            </a:avLst>
          </a:prstGeom>
          <a:solidFill xmlns:a="http://schemas.openxmlformats.org/drawingml/2006/main">
            <a:srgbClr val="F5F3E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CF4016-5E6F-4685-ACB4-9F0C90E62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43100"/>
            <a:ext cx="4000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800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4E03BD-2CB9-4EF4-83BB-FEA627414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638425"/>
            <a:ext cx="2819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91D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91D22"/>
                </a:solidFill>
                <a:latin typeface="Helvetica Neue"/>
                <a:ea typeface="Helvetica Neue"/>
                <a:cs typeface="Helvetica Neue"/>
              </a:rPr>
              <a:t>Sede llave en mano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BAD9EC-5ECA-402D-98F8-D157226DA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371850"/>
            <a:ext cx="2819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870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68707A"/>
                </a:solidFill>
                <a:latin typeface="Helvetica Neue"/>
                <a:ea typeface="Helvetica Neue"/>
                <a:cs typeface="Helvetica Neue"/>
              </a:rPr>
              <a:t>Para quien busca abrir una sede desde cero y operarla.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0DBC0B-6F81-4B3A-A6F5-B392C42CB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467225"/>
            <a:ext cx="281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7D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1EC656-26DE-4328-B55A-20B6C3921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66725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91D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91D22"/>
                </a:solidFill>
                <a:latin typeface="Helvetica Neue"/>
                <a:ea typeface="Helvetica Neue"/>
                <a:cs typeface="Helvetica Neue"/>
              </a:rPr>
              <a:t>Alta inversión</a:t>
            </a:r>
          </a:p>
          <a:p xmlns:a="http://schemas.openxmlformats.org/drawingml/2006/main">
            <a:pPr>
              <a:defRPr sz="1125" b="1">
                <a:solidFill>
                  <a:srgbClr val="191D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91D22"/>
                </a:solidFill>
                <a:latin typeface="Helvetica Neue"/>
                <a:ea typeface="Helvetica Neue"/>
                <a:cs typeface="Helvetica Neue"/>
              </a:rPr>
              <a:t>Alta participación operativa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857075-7F2C-4E99-8CEA-FB1B25473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714500"/>
            <a:ext cx="3295650" cy="3667125"/>
          </a:xfrm>
          <a:prstGeom xmlns:a="http://schemas.openxmlformats.org/drawingml/2006/main" prst="roundRect">
            <a:avLst>
              <a:gd name="adj" fmla="val 3468"/>
            </a:avLst>
          </a:prstGeom>
          <a:solidFill xmlns:a="http://schemas.openxmlformats.org/drawingml/2006/main">
            <a:srgbClr val="F5F3E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19A1A0-36FE-476A-870D-B77D7EC6A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943100"/>
            <a:ext cx="4000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800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7B1E2C-70D0-4C39-973A-CDBF427CC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638425"/>
            <a:ext cx="2819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91D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91D22"/>
                </a:solidFill>
                <a:latin typeface="Helvetica Neue"/>
                <a:ea typeface="Helvetica Neue"/>
                <a:cs typeface="Helvetica Neue"/>
              </a:rPr>
              <a:t>Conversión completa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0C5651-DDD2-48A2-976C-37DBEA066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371850"/>
            <a:ext cx="2819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870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68707A"/>
                </a:solidFill>
                <a:latin typeface="Helvetica Neue"/>
                <a:ea typeface="Helvetica Neue"/>
                <a:cs typeface="Helvetica Neue"/>
              </a:rPr>
              <a:t>Para un lavadero existente que busca modernizarse y adoptar el sistema.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FD62FE-2906-4267-B646-623503636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467225"/>
            <a:ext cx="281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7D2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76F8D8-2758-4E10-82C8-CAFDBD457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66725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91D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91D22"/>
                </a:solidFill>
                <a:latin typeface="Helvetica Neue"/>
                <a:ea typeface="Helvetica Neue"/>
                <a:cs typeface="Helvetica Neue"/>
              </a:rPr>
              <a:t>Inversión media</a:t>
            </a:r>
          </a:p>
          <a:p xmlns:a="http://schemas.openxmlformats.org/drawingml/2006/main">
            <a:pPr>
              <a:defRPr sz="1125" b="1">
                <a:solidFill>
                  <a:srgbClr val="191D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91D22"/>
                </a:solidFill>
                <a:latin typeface="Helvetica Neue"/>
                <a:ea typeface="Helvetica Neue"/>
                <a:cs typeface="Helvetica Neue"/>
              </a:rPr>
              <a:t>Operación local existente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864DCD-03A4-45AE-A1B2-DD677B690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714500"/>
            <a:ext cx="3295650" cy="3667125"/>
          </a:xfrm>
          <a:prstGeom xmlns:a="http://schemas.openxmlformats.org/drawingml/2006/main" prst="roundRect">
            <a:avLst>
              <a:gd name="adj" fmla="val 3468"/>
            </a:avLst>
          </a:prstGeom>
          <a:solidFill xmlns:a="http://schemas.openxmlformats.org/drawingml/2006/main">
            <a:srgbClr val="191D22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398B55-4DEA-4C7B-9CCF-2AAB51BD2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43100"/>
            <a:ext cx="4000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80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75697C-54A0-411F-887A-3C826D40B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638425"/>
            <a:ext cx="2819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Socio de 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4A3631-9BBA-495B-AA72-DDFB77D26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371850"/>
            <a:ext cx="2819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6DBE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D6DBE2"/>
                </a:solidFill>
                <a:latin typeface="Helvetica Neue"/>
                <a:ea typeface="Helvetica Neue"/>
                <a:cs typeface="Helvetica Neue"/>
              </a:rPr>
              <a:t>Para exposición económica a una sede sin asumir turnos ni la operación diaria.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BEB1AB-51BC-4EE9-9C69-5C0B3BF5F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467225"/>
            <a:ext cx="281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56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9B8D40-FDDD-40B2-BB51-8B7E76562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66725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B4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B473"/>
                </a:solidFill>
                <a:latin typeface="Helvetica Neue"/>
                <a:ea typeface="Helvetica Neue"/>
                <a:cs typeface="Helvetica Neue"/>
              </a:rPr>
              <a:t>Aporte fraccionado</a:t>
            </a:r>
          </a:p>
          <a:p xmlns:a="http://schemas.openxmlformats.org/drawingml/2006/main">
            <a:pPr>
              <a:defRPr sz="1125" b="1">
                <a:solidFill>
                  <a:srgbClr val="FFB4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B473"/>
                </a:solidFill>
                <a:latin typeface="Helvetica Neue"/>
                <a:ea typeface="Helvetica Neue"/>
                <a:cs typeface="Helvetica Neue"/>
              </a:rPr>
              <a:t>NovaWash opera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D1C716-D596-46F5-9FF8-C62C354E4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870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>
                <a:solidFill>
                  <a:srgbClr val="68707A"/>
                </a:solidFill>
                <a:latin typeface="Helvetica Neue"/>
                <a:ea typeface="Helvetica Neue"/>
                <a:cs typeface="Helvetica Neue"/>
              </a:rPr>
              <a:t>Toda alternativa requiere prefactibilidad técnica, comercial y contractual antes de cotizar o recibir capital.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28392B-1571-4E61-BD5E-57D57AED4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7D2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AC1EBE-F2E8-4D7A-B431-CB165ED89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3905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870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8707A"/>
                </a:solidFill>
                <a:latin typeface="Helvetica Neue"/>
                <a:ea typeface="Helvetica Neue"/>
                <a:cs typeface="Helvetica Neue"/>
              </a:rPr>
              <a:t>NOVAWASH  |  PRESENTACIÓN PARA INVERSIONISTAS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F8500A-58C2-432C-B4C4-F3B7180A4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53200"/>
            <a:ext cx="409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91D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191D22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127256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819d51ac1943fe"/>
          <a:stretch xmlns:a="http://schemas.openxmlformats.org/drawingml/2006/main"/>
        </p:blipFill>
        <p:spPr>
          <a:xfrm xmlns:a="http://schemas.openxmlformats.org/drawingml/2006/main">
            <a:off x="685800" y="259080"/>
            <a:ext cx="2190750" cy="26289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790A53-A521-4312-B61C-6019FE26B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781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91D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91D22"/>
                </a:solidFill>
                <a:latin typeface="Helvetica Neue"/>
                <a:ea typeface="Helvetica Neue"/>
                <a:cs typeface="Helvetica Neue"/>
              </a:rPr>
              <a:t>Economía de implementación por modelo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127C37-2646-40B0-AE32-B826E821E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76325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868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870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68707A"/>
                </a:solidFill>
                <a:latin typeface="Helvetica Neue"/>
                <a:ea typeface="Helvetica Neue"/>
                <a:cs typeface="Helvetica Neue"/>
              </a:rPr>
              <a:t>Referencias comerciales preliminares en COP para iniciar una conversación, sujetas a cotización e ingeniería.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ba476aee9e456f"/>
          <a:stretch xmlns:a="http://schemas.openxmlformats.org/drawingml/2006/main"/>
        </p:blipFill>
        <p:spPr>
          <a:xfrm xmlns:a="http://schemas.openxmlformats.org/drawingml/2006/main">
            <a:off x="7581900" y="1562100"/>
            <a:ext cx="3924300" cy="3924300"/>
          </a:xfrm>
          <a:prstGeom xmlns:a="http://schemas.openxmlformats.org/drawingml/2006/main" prst="roundRect">
            <a:avLst>
              <a:gd name="adj" fmla="val 2913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BF158C-9E56-4E03-9831-E78E337E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870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8707A"/>
                </a:solidFill>
                <a:latin typeface="Helvetica Neue"/>
                <a:ea typeface="Helvetica Neue"/>
                <a:cs typeface="Helvetica Neue"/>
              </a:rPr>
              <a:t>Modelo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D5B291-9632-4145-A5B1-B8A2A3DEE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240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870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8707A"/>
                </a:solidFill>
                <a:latin typeface="Helvetica Neue"/>
                <a:ea typeface="Helvetica Neue"/>
                <a:cs typeface="Helvetica Neue"/>
              </a:rPr>
              <a:t>Alcance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06369F-8A33-4EE6-BCD5-46C5E2DF4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9240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870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8707A"/>
                </a:solidFill>
                <a:latin typeface="Helvetica Neue"/>
                <a:ea typeface="Helvetica Neue"/>
                <a:cs typeface="Helvetica Neue"/>
              </a:rPr>
              <a:t>Costo directo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C65C11-E7AA-454A-9D9E-1648CC457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240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870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8707A"/>
                </a:solidFill>
                <a:latin typeface="Helvetica Neue"/>
                <a:ea typeface="Helvetica Neue"/>
                <a:cs typeface="Helvetica Neue"/>
              </a:rPr>
              <a:t>Precio / capital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DCBD59-7BF7-481B-9600-DFF4682E7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9240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870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8707A"/>
                </a:solidFill>
                <a:latin typeface="Helvetica Neue"/>
                <a:ea typeface="Helvetica Neue"/>
                <a:cs typeface="Helvetica Neue"/>
              </a:rPr>
              <a:t>Margen bruto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434120-2FA1-4EC8-80EC-D2AAC0687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90775"/>
            <a:ext cx="6191250" cy="752475"/>
          </a:xfrm>
          <a:prstGeom xmlns:a="http://schemas.openxmlformats.org/drawingml/2006/main" prst="roundRect">
            <a:avLst>
              <a:gd name="adj" fmla="val 25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6356D3-763B-4D61-ACA3-AD3BCD9B0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1333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25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8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8000"/>
                </a:solidFill>
                <a:latin typeface="Helvetica Neue"/>
                <a:ea typeface="Helvetica Neue"/>
                <a:cs typeface="Helvetica Neue"/>
              </a:rPr>
              <a:t>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5C341A-AC39-4889-9FBE-A8ED3D4E3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1809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91D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91D22"/>
                </a:solidFill>
                <a:latin typeface="Helvetica Neue"/>
                <a:ea typeface="Helvetica Neue"/>
                <a:cs typeface="Helvetica Neue"/>
              </a:rPr>
              <a:t>Sede desde cero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6A6AC9-928B-4C1C-856B-0BA18F3AA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09850"/>
            <a:ext cx="1333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91D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91D22"/>
                </a:solidFill>
                <a:latin typeface="Helvetica Neue"/>
                <a:ea typeface="Helvetica Neue"/>
                <a:cs typeface="Helvetica Neue"/>
              </a:rPr>
              <a:t>$320–430 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AFC2DC-18CD-46F8-8DBE-7DEE61A08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1333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91D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91D22"/>
                </a:solidFill>
                <a:latin typeface="Helvetica Neue"/>
                <a:ea typeface="Helvetica Neue"/>
                <a:cs typeface="Helvetica Neue"/>
              </a:rPr>
              <a:t>$560–760 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024192-6A2B-40AB-88A7-C53EA4064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609850"/>
            <a:ext cx="1333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91D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91D22"/>
                </a:solidFill>
                <a:latin typeface="Helvetica Neue"/>
                <a:ea typeface="Helvetica Neue"/>
                <a:cs typeface="Helvetica Neue"/>
              </a:rPr>
              <a:t>40–45%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230419-2F41-45B5-AE9A-31274671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6191250" cy="752475"/>
          </a:xfrm>
          <a:prstGeom xmlns:a="http://schemas.openxmlformats.org/drawingml/2006/main" prst="roundRect">
            <a:avLst>
              <a:gd name="adj" fmla="val 25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D1A650-D90C-4D10-939E-E6732D69C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9975"/>
            <a:ext cx="1333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25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8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8000"/>
                </a:solidFill>
                <a:latin typeface="Helvetica Neue"/>
                <a:ea typeface="Helvetica Neue"/>
                <a:cs typeface="Helvetica Neue"/>
              </a:rPr>
              <a:t>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A41189-7A24-4748-824B-46F90C9B7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09975"/>
            <a:ext cx="1809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192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91D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91D22"/>
                </a:solidFill>
                <a:latin typeface="Helvetica Neue"/>
                <a:ea typeface="Helvetica Neue"/>
                <a:cs typeface="Helvetica Neue"/>
              </a:rPr>
              <a:t>Conversión completa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8099DB-EC48-4C88-84EB-D33990A02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609975"/>
            <a:ext cx="1333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91D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91D22"/>
                </a:solidFill>
                <a:latin typeface="Helvetica Neue"/>
                <a:ea typeface="Helvetica Neue"/>
                <a:cs typeface="Helvetica Neue"/>
              </a:rPr>
              <a:t>$170–260 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D36F43-EBAF-417A-AABD-8D5206299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09975"/>
            <a:ext cx="1333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91D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91D22"/>
                </a:solidFill>
                <a:latin typeface="Helvetica Neue"/>
                <a:ea typeface="Helvetica Neue"/>
                <a:cs typeface="Helvetica Neue"/>
              </a:rPr>
              <a:t>$300–450 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CB751F-3673-4555-B1D5-C531B42C9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609975"/>
            <a:ext cx="1333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91D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91D22"/>
                </a:solidFill>
                <a:latin typeface="Helvetica Neue"/>
                <a:ea typeface="Helvetica Neue"/>
                <a:cs typeface="Helvetica Neue"/>
              </a:rPr>
              <a:t>40–45%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08094E-5486-4472-A0D1-F32759694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3524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49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91D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91D22"/>
                </a:solidFill>
                <a:latin typeface="Helvetica Neue"/>
                <a:ea typeface="Helvetica Neue"/>
                <a:cs typeface="Helvetica Neue"/>
              </a:rPr>
              <a:t>Referencia central del Modelo 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376EA5-3274-4DD5-83FE-CA01F08E8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67275"/>
            <a:ext cx="44291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67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91D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91D22"/>
                </a:solidFill>
                <a:latin typeface="Helvetica Neue"/>
                <a:ea typeface="Helvetica Neue"/>
                <a:cs typeface="Helvetica Neue"/>
              </a:rPr>
              <a:t>$375 M de costo directo</a:t>
            </a:r>
          </a:p>
          <a:p xmlns:a="http://schemas.openxmlformats.org/drawingml/2006/main">
            <a:pPr>
              <a:defRPr sz="1650" b="1">
                <a:solidFill>
                  <a:srgbClr val="191D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91D22"/>
                </a:solidFill>
                <a:latin typeface="Helvetica Neue"/>
                <a:ea typeface="Helvetica Neue"/>
                <a:cs typeface="Helvetica Neue"/>
              </a:rPr>
              <a:t>$650 M de precio propuesto</a:t>
            </a:r>
          </a:p>
          <a:p xmlns:a="http://schemas.openxmlformats.org/drawingml/2006/main">
            <a:pPr>
              <a:defRPr sz="1650" b="1">
                <a:solidFill>
                  <a:srgbClr val="191D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91D22"/>
                </a:solidFill>
                <a:latin typeface="Helvetica Neue"/>
                <a:ea typeface="Helvetica Neue"/>
                <a:cs typeface="Helvetica Neue"/>
              </a:rPr>
              <a:t>$275 M de utilidad bruta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222F93-B677-437B-8D0A-9D1200CE7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870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>
                <a:solidFill>
                  <a:srgbClr val="68707A"/>
                </a:solidFill>
                <a:latin typeface="Helvetica Neue"/>
                <a:ea typeface="Helvetica Neue"/>
                <a:cs typeface="Helvetica Neue"/>
              </a:rPr>
              <a:t>La utilidad bruta no equivale a utilidad neta. Debe cubrir administración, comercialización, garantías, impuestos y contingencias.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3C6251-3138-4D64-8C69-2E6545EC2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7D2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8F5812-5B41-4A73-B77A-692A8D49E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3905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870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8707A"/>
                </a:solidFill>
                <a:latin typeface="Helvetica Neue"/>
                <a:ea typeface="Helvetica Neue"/>
                <a:cs typeface="Helvetica Neue"/>
              </a:rPr>
              <a:t>NOVAWASH  |  PRESENTACIÓN PARA INVERSIONISTAS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03BBDB-1FEA-4DEC-A59E-ADEEE46D9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53200"/>
            <a:ext cx="409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91D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191D22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960471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fb379f7a614e40"/>
          <a:stretch xmlns:a="http://schemas.openxmlformats.org/drawingml/2006/main"/>
        </p:blipFill>
        <p:spPr>
          <a:xfrm xmlns:a="http://schemas.openxmlformats.org/drawingml/2006/main">
            <a:off x="685800" y="259080"/>
            <a:ext cx="2190750" cy="26289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D86FAF-91A7-4B2D-8017-3403FCFF5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781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91D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91D22"/>
                </a:solidFill>
                <a:latin typeface="Helvetica Neue"/>
                <a:ea typeface="Helvetica Neue"/>
                <a:cs typeface="Helvetica Neue"/>
              </a:rPr>
              <a:t>Viabilidad por volumen de operación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027B2B-E724-409B-9B77-B327837D1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76325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826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870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68707A"/>
                </a:solidFill>
                <a:latin typeface="Helvetica Neue"/>
                <a:ea typeface="Helvetica Neue"/>
                <a:cs typeface="Helvetica Neue"/>
              </a:rPr>
              <a:t>Escenarios mensuales ilustrativos para una sede. Las cifras no representan resultados históricos ni promesas de desempeño.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685800" y="1619250"/>
          <a:ext xmlns:a="http://schemas.openxmlformats.org/drawingml/2006/main" cx="6477000" cy="37909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51bbbed7b6b486b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3D9B34-A43D-4F5E-8686-F691080EC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743075"/>
            <a:ext cx="3143250" cy="3067050"/>
          </a:xfrm>
          <a:prstGeom xmlns:a="http://schemas.openxmlformats.org/drawingml/2006/main" prst="roundRect">
            <a:avLst>
              <a:gd name="adj" fmla="val 3727"/>
            </a:avLst>
          </a:prstGeom>
          <a:solidFill xmlns:a="http://schemas.openxmlformats.org/drawingml/2006/main">
            <a:srgbClr val="F5F3E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67C063-7B6A-4EF5-9D0D-0B8332DF9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038350"/>
            <a:ext cx="3619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167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8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8000"/>
                </a:solidFill>
                <a:latin typeface="Helvetica Neue"/>
                <a:ea typeface="Helvetica Neue"/>
                <a:cs typeface="Helvetica Neue"/>
              </a:rPr>
              <a:t>LECTURA DEL ESCENARIO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197F95-ED32-4E9F-8F9D-2516C4DB0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8125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571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91D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91D22"/>
                </a:solidFill>
                <a:latin typeface="Helvetica Neue"/>
                <a:ea typeface="Helvetica Neue"/>
                <a:cs typeface="Helvetica Neue"/>
              </a:rPr>
              <a:t>35 vehículos/día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6720F7-1A47-479B-A533-04D0CDEC0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622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870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68707A"/>
                </a:solidFill>
                <a:latin typeface="Helvetica Neue"/>
                <a:ea typeface="Helvetica Neue"/>
                <a:cs typeface="Helvetica Neue"/>
              </a:rPr>
              <a:t>escenario de consolidación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B8663A-8344-4B08-8D94-D708719E2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1527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7D2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76A4CC-7CC4-4E75-AE03-0464A7476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4004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8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8000"/>
                </a:solidFill>
                <a:latin typeface="Helvetica Neue"/>
                <a:ea typeface="Helvetica Neue"/>
                <a:cs typeface="Helvetica Neue"/>
              </a:rPr>
              <a:t>$31,40 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0F1F97-BD59-49BF-94BE-2B8C4B389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705225"/>
            <a:ext cx="2333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870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68707A"/>
                </a:solidFill>
                <a:latin typeface="Helvetica Neue"/>
                <a:ea typeface="Helvetica Neue"/>
                <a:cs typeface="Helvetica Neue"/>
              </a:rPr>
              <a:t>ventas mensuales ilustrativas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88F5D6-1DE5-4D78-B6E7-353E36F98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0767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91D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91D22"/>
                </a:solidFill>
                <a:latin typeface="Helvetica Neue"/>
                <a:ea typeface="Helvetica Neue"/>
                <a:cs typeface="Helvetica Neue"/>
              </a:rPr>
              <a:t>$9,10 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8912C7-4ED9-4715-8F7B-5665AC168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381500"/>
            <a:ext cx="2333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870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68707A"/>
                </a:solidFill>
                <a:latin typeface="Helvetica Neue"/>
                <a:ea typeface="Helvetica Neue"/>
                <a:cs typeface="Helvetica Neue"/>
              </a:rPr>
              <a:t>EBITDA mensual ilustrativo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AC45A0-6302-4FC0-8053-EEE27A4CA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870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>
                <a:solidFill>
                  <a:srgbClr val="68707A"/>
                </a:solidFill>
                <a:latin typeface="Helvetica Neue"/>
                <a:ea typeface="Helvetica Neue"/>
                <a:cs typeface="Helvetica Neue"/>
              </a:rPr>
              <a:t>Supuestos: ticket medio de $30.000, 26 días al mes, venta adicional de cafetería y tienda. Reemplazar con datos del local.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A185DB-24C1-4102-B14D-CADBB4DFB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7D2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6D2D88-B1D7-4DAA-924A-5705A98D9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3905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870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8707A"/>
                </a:solidFill>
                <a:latin typeface="Helvetica Neue"/>
                <a:ea typeface="Helvetica Neue"/>
                <a:cs typeface="Helvetica Neue"/>
              </a:rPr>
              <a:t>NOVAWASH  |  PRESENTACIÓN PARA INVERSIONISTAS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40D3F6-F54B-4EA2-803B-01E6DF70F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53200"/>
            <a:ext cx="409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91D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191D22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0129908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91D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968E23-3A0C-4FED-8344-DA3CE2348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9550"/>
            <a:ext cx="2333625" cy="3619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5d72df467e4a19"/>
          <a:stretch xmlns:a="http://schemas.openxmlformats.org/drawingml/2006/main"/>
        </p:blipFill>
        <p:spPr>
          <a:xfrm xmlns:a="http://schemas.openxmlformats.org/drawingml/2006/main">
            <a:off x="685800" y="259080"/>
            <a:ext cx="2190750" cy="26289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B872CD-EA1C-4FB3-A729-35A62D0AD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781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Modelo C: participación en red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FB842A-0E5F-47B8-B674-137A726D6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76325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9DEE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D9DEE4"/>
                </a:solidFill>
                <a:latin typeface="Helvetica Neue"/>
                <a:ea typeface="Helvetica Neue"/>
                <a:cs typeface="Helvetica Neue"/>
              </a:rPr>
              <a:t>Alternativa para aportar capital a un proyecto identificado mientras NovaWash proyecta, instala y opera.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d43e9e41c846fc"/>
          <a:stretch xmlns:a="http://schemas.openxmlformats.org/drawingml/2006/main"/>
        </p:blipFill>
        <p:spPr>
          <a:xfrm xmlns:a="http://schemas.openxmlformats.org/drawingml/2006/main">
            <a:off x="7448550" y="1485900"/>
            <a:ext cx="4057650" cy="4057650"/>
          </a:xfrm>
          <a:prstGeom xmlns:a="http://schemas.openxmlformats.org/drawingml/2006/main" prst="roundRect">
            <a:avLst>
              <a:gd name="adj" fmla="val 2817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5722BF-5490-4103-884A-29FF94FD8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619375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252A31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F16DF0-60A2-497B-8B82-88F3BFD17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907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619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8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8000"/>
                </a:solidFill>
                <a:latin typeface="Helvetica Neue"/>
                <a:ea typeface="Helvetica Neue"/>
                <a:cs typeface="Helvetica Neue"/>
              </a:rPr>
              <a:t>$650 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38ECEB-5CAB-4D09-9A9F-EB4B5C23F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003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D3D8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D3D8DE"/>
                </a:solidFill>
                <a:latin typeface="Helvetica Neue"/>
                <a:ea typeface="Helvetica Neue"/>
                <a:cs typeface="Helvetica Neue"/>
              </a:rPr>
              <a:t>capital objetivo por sede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8B30AF-771E-4320-8609-741B7068A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809750"/>
            <a:ext cx="2619375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252A3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13FACA-6838-4427-B514-809CE6514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19907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619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8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8000"/>
                </a:solidFill>
                <a:latin typeface="Helvetica Neue"/>
                <a:ea typeface="Helvetica Neue"/>
                <a:cs typeface="Helvetica Neue"/>
              </a:rPr>
              <a:t>$450–550 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F0F907-B8BA-4138-877C-DD411230A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4003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D3D8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D3D8DE"/>
                </a:solidFill>
                <a:latin typeface="Helvetica Neue"/>
                <a:ea typeface="Helvetica Neue"/>
                <a:cs typeface="Helvetica Neue"/>
              </a:rPr>
              <a:t>capital externo de referencia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79B725-4893-44B6-BFA7-A7A9EE94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2619375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252A31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0C6E87-E09F-4EC3-AB28-7BFD759D0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718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619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8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8000"/>
                </a:solidFill>
                <a:latin typeface="Helvetica Neue"/>
                <a:ea typeface="Helvetica Neue"/>
                <a:cs typeface="Helvetica Neue"/>
              </a:rPr>
              <a:t>$100–200 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6CBAFA-6C4D-4C8E-9C25-4F9B5A98A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81425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977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D3D8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D3D8DE"/>
                </a:solidFill>
                <a:latin typeface="Helvetica Neue"/>
                <a:ea typeface="Helvetica Neue"/>
                <a:cs typeface="Helvetica Neue"/>
              </a:rPr>
              <a:t>aporte promotor y aliados por definir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A3EFA3-FDF4-4752-9760-75B559DAF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190875"/>
            <a:ext cx="2619375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252A3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4E5133-6208-47AC-808D-B0BEE46E1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3718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619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8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8000"/>
                </a:solidFill>
                <a:latin typeface="Helvetica Neue"/>
                <a:ea typeface="Helvetica Neue"/>
                <a:cs typeface="Helvetica Neue"/>
              </a:rPr>
              <a:t>4–6%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E8025B-49F7-49CE-9558-17F530A53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781425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405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D3D8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D3D8DE"/>
                </a:solidFill>
                <a:latin typeface="Helvetica Neue"/>
                <a:ea typeface="Helvetica Neue"/>
                <a:cs typeface="Helvetica Neue"/>
              </a:rPr>
              <a:t>estructuración inicial sobre capital externo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1CAF89-61AB-4D63-9487-2379739C5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93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Condiciones que protegen la conversación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7C5860-1AE9-48C3-919E-B40956891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0065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118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C9D0D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C9D0D7"/>
                </a:solidFill>
                <a:latin typeface="Helvetica Neue"/>
                <a:ea typeface="Helvetica Neue"/>
                <a:cs typeface="Helvetica Neue"/>
              </a:rPr>
              <a:t>Proyecto y vehículo definidos, presupuesto aprobado, derechos documentados, reportes periódicos, reglas de reservas y distribución.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E806BB-E4EF-4EF3-B807-533E0E5DA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34075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C7CD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>
                <a:solidFill>
                  <a:srgbClr val="C7CDD4"/>
                </a:solidFill>
                <a:latin typeface="Helvetica Neue"/>
                <a:ea typeface="Helvetica Neue"/>
                <a:cs typeface="Helvetica Neue"/>
              </a:rPr>
              <a:t>La estructura jurídica debe existir antes de recaudar dinero de múltiples inversionistas.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FF2DD5-C565-4989-83E9-423350C4F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606A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C65E34-EBED-41FF-8F8C-485C185EA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3905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BBC3CC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BBC3CC"/>
                </a:solidFill>
                <a:latin typeface="Helvetica Neue"/>
                <a:ea typeface="Helvetica Neue"/>
                <a:cs typeface="Helvetica Neue"/>
              </a:rPr>
              <a:t>NOVAWASH  |  PRESENTACIÓN PARA INVERSIONISTAS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11B5BF-0844-4A6A-A6F0-655D14842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53200"/>
            <a:ext cx="409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9263580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0035fe1bb24708"/>
          <a:stretch xmlns:a="http://schemas.openxmlformats.org/drawingml/2006/main"/>
        </p:blipFill>
        <p:spPr>
          <a:xfrm xmlns:a="http://schemas.openxmlformats.org/drawingml/2006/main">
            <a:off x="685800" y="259080"/>
            <a:ext cx="2190750" cy="26289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80B9B6-B113-480A-BAAD-888595483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781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91D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91D22"/>
                </a:solidFill>
                <a:latin typeface="Helvetica Neue"/>
                <a:ea typeface="Helvetica Neue"/>
                <a:cs typeface="Helvetica Neue"/>
              </a:rPr>
              <a:t>Cómo crece NovaWash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C859BF-15F5-4CEC-8DBA-1263E228D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76325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870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68707A"/>
                </a:solidFill>
                <a:latin typeface="Helvetica Neue"/>
                <a:ea typeface="Helvetica Neue"/>
                <a:cs typeface="Helvetica Neue"/>
              </a:rPr>
              <a:t>La expansión se apoya en formatos de apertura, conversión y participación en red.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ddefc7f696465b"/>
          <a:srcRect xmlns:a="http://schemas.openxmlformats.org/drawingml/2006/main" l="15735" t="0" r="1573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657350"/>
            <a:ext cx="4333875" cy="2476500"/>
          </a:xfrm>
          <a:prstGeom xmlns:a="http://schemas.openxmlformats.org/drawingml/2006/main" prst="roundRect">
            <a:avLst>
              <a:gd name="adj" fmla="val 4615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D700CE-24B6-4AF2-858F-0974F49DD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714500"/>
            <a:ext cx="495300" cy="4953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800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D617EB-C96E-447E-9E7E-66953CA63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172402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91D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91D22"/>
                </a:solidFill>
                <a:latin typeface="Helvetica Neue"/>
                <a:ea typeface="Helvetica Neue"/>
                <a:cs typeface="Helvetica Neue"/>
              </a:rPr>
              <a:t>Validar formato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B30F36-5FE7-47C4-96B8-119963F3C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085975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922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870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68707A"/>
                </a:solidFill>
                <a:latin typeface="Helvetica Neue"/>
                <a:ea typeface="Helvetica Neue"/>
                <a:cs typeface="Helvetica Neue"/>
              </a:rPr>
              <a:t>Piloto, medición de volumen, ticket, costos y experiencia.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C6F356-B81B-4221-B2E0-A102FB703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905125"/>
            <a:ext cx="495300" cy="4953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800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91403E-A1F5-4975-AB98-80BA09025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9146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91D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91D22"/>
                </a:solidFill>
                <a:latin typeface="Helvetica Neue"/>
                <a:ea typeface="Helvetica Neue"/>
                <a:cs typeface="Helvetica Neue"/>
              </a:rPr>
              <a:t>Estandarizar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F7D767-89FF-4C67-8855-6A7C2F2D3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27660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583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870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68707A"/>
                </a:solidFill>
                <a:latin typeface="Helvetica Neue"/>
                <a:ea typeface="Helvetica Neue"/>
                <a:cs typeface="Helvetica Neue"/>
              </a:rPr>
              <a:t>Ficha técnica, proveedores, software, manuales y mantenimiento.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5EFDFE-84B6-41EF-886B-C667D057D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095750"/>
            <a:ext cx="495300" cy="4953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800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DEF48F-6623-48DC-91B9-0CF752799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10527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91D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91D22"/>
                </a:solidFill>
                <a:latin typeface="Helvetica Neue"/>
                <a:ea typeface="Helvetica Neue"/>
                <a:cs typeface="Helvetica Neue"/>
              </a:rPr>
              <a:t>Replicar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F61BEA-6BFC-438A-BE8A-690E1D39A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467225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091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870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68707A"/>
                </a:solidFill>
                <a:latin typeface="Helvetica Neue"/>
                <a:ea typeface="Helvetica Neue"/>
                <a:cs typeface="Helvetica Neue"/>
              </a:rPr>
              <a:t>Nuevas sedes llave en mano, conversiones y vehículos de red.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61EB6F-D90E-4734-A63B-FE7E7F9F5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4714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949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91D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91D22"/>
                </a:solidFill>
                <a:latin typeface="Helvetica Neue"/>
                <a:ea typeface="Helvetica Neue"/>
                <a:cs typeface="Helvetica Neue"/>
              </a:rPr>
              <a:t>El punto físico habilita ventas de lavado y ventas adicionales. El sistema digital busca retener al cliente y estandarizar la operación.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AB0E06-1B48-49F1-B8A5-FD3DA0EED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86450"/>
            <a:ext cx="752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870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>
                <a:solidFill>
                  <a:srgbClr val="68707A"/>
                </a:solidFill>
                <a:latin typeface="Helvetica Neue"/>
                <a:ea typeface="Helvetica Neue"/>
                <a:cs typeface="Helvetica Neue"/>
              </a:rPr>
              <a:t>La velocidad de expansión depende de prefactibilidad, permisos, ingeniería, proveedores e integración de hardware.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DDCFBC-45A0-4814-9CEA-A193E5BC2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7D2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23432E-E0C6-4AB9-8079-C69D0881E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3905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870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8707A"/>
                </a:solidFill>
                <a:latin typeface="Helvetica Neue"/>
                <a:ea typeface="Helvetica Neue"/>
                <a:cs typeface="Helvetica Neue"/>
              </a:rPr>
              <a:t>NOVAWASH  |  PRESENTACIÓN PARA INVERSIONISTAS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E07336-AF54-45FB-AFD0-4753AAD6F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53200"/>
            <a:ext cx="409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91D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191D22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2903738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aa1be012614340"/>
          <a:stretch xmlns:a="http://schemas.openxmlformats.org/drawingml/2006/main"/>
        </p:blipFill>
        <p:spPr>
          <a:xfrm xmlns:a="http://schemas.openxmlformats.org/drawingml/2006/main">
            <a:off x="685800" y="259080"/>
            <a:ext cx="2190750" cy="26289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582C92-260A-46A1-A014-18D1A70D8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781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91D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91D22"/>
                </a:solidFill>
                <a:latin typeface="Helvetica Neue"/>
                <a:ea typeface="Helvetica Neue"/>
                <a:cs typeface="Helvetica Neue"/>
              </a:rPr>
              <a:t>Debida diligencia antes de escalar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4D71CE-10F8-4F36-9276-338D74280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76325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870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68707A"/>
                </a:solidFill>
                <a:latin typeface="Helvetica Neue"/>
                <a:ea typeface="Helvetica Neue"/>
                <a:cs typeface="Helvetica Neue"/>
              </a:rPr>
              <a:t>La oportunidad requiere convertir supuestos de negocio en evidencia técnica, financiera y contractual.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F9327A-AE3A-4597-B377-9B042DFC2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14350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5F3E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ECCD78-BB0A-4E90-8D30-9F62B2F9E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574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91D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91D22"/>
                </a:solidFill>
                <a:latin typeface="Helvetica Neue"/>
                <a:ea typeface="Helvetica Neue"/>
                <a:cs typeface="Helvetica Neue"/>
              </a:rPr>
              <a:t>Técnica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AE7832-3207-43E1-A150-6E14522C4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66975"/>
            <a:ext cx="7620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800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F24F76-AE38-42CA-9E3D-617B68C45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00325"/>
            <a:ext cx="445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341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870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68707A"/>
                </a:solidFill>
                <a:latin typeface="Helvetica Neue"/>
                <a:ea typeface="Helvetica Neue"/>
                <a:cs typeface="Helvetica Neue"/>
              </a:rPr>
              <a:t>Capacidad, caudal, drenajes, energía, equipos, montaje e integración de acceso.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FD28FF-2786-4746-948B-EFBE3BDE8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09750"/>
            <a:ext cx="514350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5F3E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AE04E2-754C-4A6B-9641-AAC39B201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574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91D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91D22"/>
                </a:solidFill>
                <a:latin typeface="Helvetica Neue"/>
                <a:ea typeface="Helvetica Neue"/>
                <a:cs typeface="Helvetica Neue"/>
              </a:rPr>
              <a:t>Comercial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18BEDA-E7EF-4AB3-8500-874EA63B8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66975"/>
            <a:ext cx="7620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800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49695C-AF44-49F2-AE4D-6F87C4B10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00325"/>
            <a:ext cx="445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2072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870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68707A"/>
                </a:solidFill>
                <a:latin typeface="Helvetica Neue"/>
                <a:ea typeface="Helvetica Neue"/>
                <a:cs typeface="Helvetica Neue"/>
              </a:rPr>
              <a:t>Demanda, competencia, ticket, arriendo, flujo vehicular y ventas adicionales.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C44AF2-0C9A-482C-AB4F-5E89F7E91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514350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5F3EE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15E3BF-80C6-4411-87D4-09CFA9333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766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91D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91D22"/>
                </a:solidFill>
                <a:latin typeface="Helvetica Neue"/>
                <a:ea typeface="Helvetica Neue"/>
                <a:cs typeface="Helvetica Neue"/>
              </a:rPr>
              <a:t>Financiera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FE3366-6008-46F6-9CF4-FD79BA0D5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86225"/>
            <a:ext cx="7620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800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E2D259-9F66-4DBF-AB68-C94F3E9D0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19575"/>
            <a:ext cx="445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41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870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68707A"/>
                </a:solidFill>
                <a:latin typeface="Helvetica Neue"/>
                <a:ea typeface="Helvetica Neue"/>
                <a:cs typeface="Helvetica Neue"/>
              </a:rPr>
              <a:t>CAPEX, OPEX, capital de trabajo, sensibilidad y ruta de recuperación.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CFCB31-32E6-4C3D-A2F3-A8F78E2B1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29000"/>
            <a:ext cx="514350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5F3EE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71C123-ADCD-4D24-92CD-D93419825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766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91D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91D22"/>
                </a:solidFill>
                <a:latin typeface="Helvetica Neue"/>
                <a:ea typeface="Helvetica Neue"/>
                <a:cs typeface="Helvetica Neue"/>
              </a:rPr>
              <a:t>Legal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5D848C-135D-4E79-9792-73CFC7878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86225"/>
            <a:ext cx="7620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8000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CC4C83-F16B-445C-B646-5FD847DFD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19575"/>
            <a:ext cx="445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58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870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68707A"/>
                </a:solidFill>
                <a:latin typeface="Helvetica Neue"/>
                <a:ea typeface="Helvetica Neue"/>
                <a:cs typeface="Helvetica Neue"/>
              </a:rPr>
              <a:t>Contratos, protección de datos, seguros, permisos y estructura para inversión de red.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7173DE-B1AB-4818-BE02-FFE9959C3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93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91D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91D22"/>
                </a:solidFill>
                <a:latin typeface="Helvetica Neue"/>
                <a:ea typeface="Helvetica Neue"/>
                <a:cs typeface="Helvetica Neue"/>
              </a:rPr>
              <a:t>Criterio de presentación responsable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CE4078-460C-4EE9-9A5D-213FAD62E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48325"/>
            <a:ext cx="9620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244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870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68707A"/>
                </a:solidFill>
                <a:latin typeface="Helvetica Neue"/>
                <a:ea typeface="Helvetica Neue"/>
                <a:cs typeface="Helvetica Neue"/>
              </a:rPr>
              <a:t>Usar escenarios con supuestos explícitos hasta contar con históricos propios auditables. No presentar estimaciones como resultados ni como retornos garantizados.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C97AD4-F8F9-4914-8112-7C63AAE84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7D2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405A93-7E64-48E9-85B2-68E696047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3905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870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8707A"/>
                </a:solidFill>
                <a:latin typeface="Helvetica Neue"/>
                <a:ea typeface="Helvetica Neue"/>
                <a:cs typeface="Helvetica Neue"/>
              </a:rPr>
              <a:t>NOVAWASH  |  PRESENTACIÓN PARA INVERSIONISTAS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D2F623-4BAB-4EE9-9A65-70669A80F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53200"/>
            <a:ext cx="409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91D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191D22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95653158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91D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ca496478ef443c"/>
          <a:srcRect xmlns:a="http://schemas.openxmlformats.org/drawingml/2006/main" l="19907" t="0" r="1990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00750" y="0"/>
            <a:ext cx="61912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52317C-E7DA-47D3-A366-A3FB6484D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334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D2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BA3D60-82B0-4684-8079-2615D8327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47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0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8A3B48-F663-420E-A399-080D87832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9550"/>
            <a:ext cx="2333625" cy="3619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1abc751a864aff"/>
          <a:stretch xmlns:a="http://schemas.openxmlformats.org/drawingml/2006/main"/>
        </p:blipFill>
        <p:spPr>
          <a:xfrm xmlns:a="http://schemas.openxmlformats.org/drawingml/2006/main">
            <a:off x="685800" y="259080"/>
            <a:ext cx="2190750" cy="26289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9C0A51-F4F9-4F6F-B0ED-CD7063AEE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3619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167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9C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9C43"/>
                </a:solidFill>
                <a:latin typeface="Helvetica Neue"/>
                <a:ea typeface="Helvetica Neue"/>
                <a:cs typeface="Helvetica Neue"/>
              </a:rPr>
              <a:t>SIGUIENTE CONVERSACIÓN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8AD34B-D31C-4899-8BA4-75F0D0F56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476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108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Una sede viable se construye con evidencia.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4EBC2C-92E8-4C6D-8BF4-390903061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9925"/>
            <a:ext cx="4857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812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D5DAE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D5DAE0"/>
                </a:solidFill>
                <a:latin typeface="Helvetica Neue"/>
                <a:ea typeface="Helvetica Neue"/>
                <a:cs typeface="Helvetica Neue"/>
              </a:rPr>
              <a:t>NovaWash busca conversar con inversionistas y operadores que quieran evaluar una ubicación, una conversión o un proyecto de red bajo un proceso de prefactibilidad claro.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331160-AC6F-49AA-8BC5-EFE103ED9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00575"/>
            <a:ext cx="413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5A6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C8DEA3-3819-464B-8F39-6ABCE000E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71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4444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AD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AD67"/>
                </a:solidFill>
                <a:latin typeface="Helvetica Neue"/>
                <a:ea typeface="Helvetica Neue"/>
                <a:cs typeface="Helvetica Neue"/>
              </a:rPr>
              <a:t>Para avanzar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7349C8-3E80-4A10-93BD-97B2864A0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4857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1. Perfil de capital y modelo de interés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2. Ubicación o mercado objetivo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3. Prefactibilidad y propuesta no vinculante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7C505F-B46F-4D99-B99A-FBBD3D367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novawash.com.co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8C6D11-0C7A-4B30-BD30-22D567CCF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21030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865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E5E7E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E5E7EA"/>
                </a:solidFill>
                <a:latin typeface="Helvetica Neue"/>
                <a:ea typeface="Helvetica Neue"/>
                <a:cs typeface="Helvetica Neue"/>
              </a:rPr>
              <a:t>Información preliminar. No constituye una oferta pública de valores, recomendación de inversión ni garantía de retorno.</a:t>
            </a:r>
          </a:p>
        </p:txBody>
      </p:sp>
    </p:spTree>
    <p:extLst>
      <p:ext uri="{BB962C8B-B14F-4D97-AF65-F5344CB8AC3E}">
        <p14:creationId xmlns:p14="http://schemas.microsoft.com/office/powerpoint/2010/main" val="19463824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2026-09-23T20:19:50.9650000Z</dcterms:created>
  <dcterms:modified xsi:type="dcterms:W3CDTF">2026-09-23T20:19:50.9650000Z</dcterms:modified>
</coreProperties>
</file>